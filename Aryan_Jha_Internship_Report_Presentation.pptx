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234440"/>
            <a:ext cx="107899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200" b="1"/>
            </a:pPr>
            <a:r>
              <a:t>Internship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2743200"/>
            <a:ext cx="1014984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700" b="1"/>
            </a:pPr>
            <a:r>
              <a:t>Junior Data Analyst – Digital Marketing &amp; Advertising</a:t>
            </a:r>
          </a:p>
          <a:p>
            <a:pPr algn="ctr">
              <a:defRPr sz="2300"/>
            </a:pPr>
            <a:r>
              <a:t>YuvaIntern</a:t>
            </a:r>
          </a:p>
          <a:p>
            <a:pPr algn="ctr">
              <a:defRPr sz="1700"/>
            </a:pPr>
            <a:r>
              <a:t>Aryan Jha • Roll No. 2410030342 • B.Tech CSE • Batch 2024–2028</a:t>
            </a:r>
          </a:p>
          <a:p>
            <a:pPr algn="ctr">
              <a:defRPr sz="1600"/>
            </a:pPr>
            <a:r>
              <a:t>IILM University, Greater Noida, U.P. | 2026–27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Internship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/>
            </a:pPr>
            <a:r>
              <a:t>Six-week remote internship as a Junior Data Analyst – Digital Marketing &amp; Advertising.</a:t>
            </a:r>
          </a:p>
          <a:p>
            <a:pPr>
              <a:spcAft>
                <a:spcPts val="1200"/>
              </a:spcAft>
              <a:defRPr sz="1900"/>
            </a:pPr>
            <a:r>
              <a:t>Organization: YuvaIntern, an internship and skill-development platform affiliated with NSDC.</a:t>
            </a:r>
          </a:p>
          <a:p>
            <a:pPr>
              <a:spcAft>
                <a:spcPts val="1200"/>
              </a:spcAft>
              <a:defRPr sz="1900"/>
            </a:pPr>
            <a:r>
              <a:t>Internship period stated in the report: August 26, 2026 to October 07, 2026.</a:t>
            </a:r>
          </a:p>
          <a:p>
            <a:pPr>
              <a:spcAft>
                <a:spcPts val="1200"/>
              </a:spcAft>
              <a:defRPr sz="1900"/>
            </a:pPr>
            <a:r>
              <a:t>Focus: analysing digital marketing and advertising data to support data-driven campaign decisions.</a:t>
            </a:r>
          </a:p>
          <a:p>
            <a:pPr>
              <a:spcAft>
                <a:spcPts val="1200"/>
              </a:spcAft>
              <a:defRPr sz="1900"/>
            </a:pPr>
            <a:r>
              <a:t>Academic application: data analysis and data-driven problem solving in a real-world marketing context.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89920" y="6601968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Organization Profile — YuvaIntern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/>
            </a:pPr>
            <a:r>
              <a:t>Connects students with practical, project-based internship opportunities.</a:t>
            </a:r>
          </a:p>
          <a:p>
            <a:pPr>
              <a:spcAft>
                <a:spcPts val="1200"/>
              </a:spcAft>
              <a:defRPr sz="1900"/>
            </a:pPr>
            <a:r>
              <a:t>Domains include data analytics, digital marketing, web development, and business operations.</a:t>
            </a:r>
          </a:p>
          <a:p>
            <a:pPr>
              <a:spcAft>
                <a:spcPts val="1200"/>
              </a:spcAft>
              <a:defRPr sz="1900"/>
            </a:pPr>
            <a:r>
              <a:t>Works in partnership with the National Skill Development Corporation (NSDC).</a:t>
            </a:r>
          </a:p>
          <a:p>
            <a:pPr>
              <a:spcAft>
                <a:spcPts val="1200"/>
              </a:spcAft>
              <a:defRPr sz="1900"/>
            </a:pPr>
            <a:r>
              <a:t>Focuses on hands-on, skills-based learning to bridge academic and industry requirements.</a:t>
            </a:r>
          </a:p>
          <a:p>
            <a:pPr>
              <a:spcAft>
                <a:spcPts val="1200"/>
              </a:spcAft>
              <a:defRPr sz="1900"/>
            </a:pPr>
            <a:r>
              <a:t>Led by Founder Mr. Kounal Gupta; provides internship offer letters and completion certificates.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89920" y="6601968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Digital campaigns generate large volumes of data across paid advertising, social media, and website analytics.</a:t>
            </a:r>
          </a:p>
          <a:p>
            <a:pPr>
              <a:spcAft>
                <a:spcPts val="1200"/>
              </a:spcAft>
              <a:defRPr sz="2000"/>
            </a:pPr>
            <a:r>
              <a:t>Data can be scattered and difficult to interpret without a structured analytical approach.</a:t>
            </a:r>
          </a:p>
          <a:p>
            <a:pPr>
              <a:spcAft>
                <a:spcPts val="1200"/>
              </a:spcAft>
              <a:defRPr sz="2000"/>
            </a:pPr>
            <a:r>
              <a:t>A consolidated view is needed to track key performance indicators (KPIs).</a:t>
            </a:r>
          </a:p>
          <a:p>
            <a:pPr>
              <a:spcAft>
                <a:spcPts val="1200"/>
              </a:spcAft>
              <a:defRPr sz="2000"/>
            </a:pPr>
            <a:r>
              <a:t>Analysis should translate raw numbers into actionable insights for campaign performance, audience engagement, and ROI.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89920" y="6601968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Project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Understand key metrics used to evaluate digital marketing and advertising campaigns.</a:t>
            </a:r>
          </a:p>
          <a:p>
            <a:pPr>
              <a:spcAft>
                <a:spcPts val="1200"/>
              </a:spcAft>
              <a:defRPr sz="2000"/>
            </a:pPr>
            <a:r>
              <a:t>Collect, organize, and clean marketing data from campaign sources.</a:t>
            </a:r>
          </a:p>
          <a:p>
            <a:pPr>
              <a:spcAft>
                <a:spcPts val="1200"/>
              </a:spcAft>
              <a:defRPr sz="2000"/>
            </a:pPr>
            <a:r>
              <a:t>Analyse campaign performance, audience engagement, and ROI.</a:t>
            </a:r>
          </a:p>
          <a:p>
            <a:pPr>
              <a:spcAft>
                <a:spcPts val="1200"/>
              </a:spcAft>
              <a:defRPr sz="2000"/>
            </a:pPr>
            <a:r>
              <a:t>Generate clear, data-backed insights and recommendations.</a:t>
            </a:r>
          </a:p>
          <a:p>
            <a:pPr>
              <a:spcAft>
                <a:spcPts val="1200"/>
              </a:spcAft>
              <a:defRPr sz="2000"/>
            </a:pPr>
            <a:r>
              <a:t>Present findings through concise reports and dashboards for stakeholders.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89920" y="6601968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Scope of the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/>
            </a:pPr>
            <a:r>
              <a:t>Covered campaign performance metrics, audience engagement statistics, and ROI-related figures made available through the internship.</a:t>
            </a:r>
          </a:p>
          <a:p>
            <a:pPr>
              <a:spcAft>
                <a:spcPts val="1200"/>
              </a:spcAft>
              <a:defRPr sz="1900"/>
            </a:pPr>
            <a:r>
              <a:t>Included data collection, cleaning, analysis, and reporting.</a:t>
            </a:r>
          </a:p>
          <a:p>
            <a:pPr>
              <a:spcAft>
                <a:spcPts val="1200"/>
              </a:spcAft>
              <a:defRPr sz="1900"/>
            </a:pPr>
            <a:r>
              <a:t>Focused on interpreting available digital marketing and advertising data.</a:t>
            </a:r>
          </a:p>
          <a:p>
            <a:pPr>
              <a:spcAft>
                <a:spcPts val="1200"/>
              </a:spcAft>
              <a:defRPr sz="1900"/>
            </a:pPr>
            <a:r>
              <a:t>Did not include the design or execution of live advertising campaigns.</a:t>
            </a:r>
          </a:p>
          <a:p>
            <a:pPr>
              <a:spcAft>
                <a:spcPts val="1200"/>
              </a:spcAft>
              <a:defRPr sz="1900"/>
            </a:pPr>
            <a:r>
              <a:t>Live campaign execution remained the responsibility of the organization's marketing team.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89920" y="6601968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Technologies &amp; Tools Used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/>
            </a:pPr>
            <a:r>
              <a:t>Microsoft Excel / Google Sheets — data organization, cleaning, and calculations.</a:t>
            </a:r>
          </a:p>
          <a:p>
            <a:pPr>
              <a:spcAft>
                <a:spcPts val="1200"/>
              </a:spcAft>
              <a:defRPr sz="1900"/>
            </a:pPr>
            <a:r>
              <a:t>Google Analytics — website traffic and audience engagement analysis.</a:t>
            </a:r>
          </a:p>
          <a:p>
            <a:pPr>
              <a:spcAft>
                <a:spcPts val="1200"/>
              </a:spcAft>
              <a:defRPr sz="1900"/>
            </a:pPr>
            <a:r>
              <a:t>Meta Ads Manager &amp; Google Ads — paid campaign performance tracking.</a:t>
            </a:r>
          </a:p>
          <a:p>
            <a:pPr>
              <a:spcAft>
                <a:spcPts val="1200"/>
              </a:spcAft>
              <a:defRPr sz="1900"/>
            </a:pPr>
            <a:r>
              <a:t>Google Data Studio / Looker Studio — visual performance dashboards.</a:t>
            </a:r>
          </a:p>
          <a:p>
            <a:pPr>
              <a:spcAft>
                <a:spcPts val="1200"/>
              </a:spcAft>
              <a:defRPr sz="1900"/>
            </a:pPr>
            <a:r>
              <a:t>Python (Pandas, Matplotlib) — deeper analysis and visualization where required.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89920" y="6601968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System Architecture / Data Pipeline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920240"/>
            <a:ext cx="2331720" cy="22860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/>
            </a:pPr>
            <a:r>
              <a:t>1. Collect</a:t>
            </a:r>
          </a:p>
          <a:p>
            <a:pPr algn="ctr">
              <a:defRPr sz="1500"/>
            </a:pPr>
            <a:r>
              <a:t>Ad platforms, website analytics, social media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474720" y="1920240"/>
            <a:ext cx="2331720" cy="22860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/>
            </a:pPr>
            <a:r>
              <a:t>2. Clean &amp; Consolidate</a:t>
            </a:r>
          </a:p>
          <a:p>
            <a:pPr algn="ctr">
              <a:defRPr sz="1500"/>
            </a:pPr>
            <a:r>
              <a:t>Remove duplicates, correct inconsistencies, structure data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920240"/>
            <a:ext cx="2331720" cy="22860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/>
            </a:pPr>
            <a:r>
              <a:t>3. Analyse</a:t>
            </a:r>
          </a:p>
          <a:p>
            <a:pPr algn="ctr">
              <a:defRPr sz="1500"/>
            </a:pPr>
            <a:r>
              <a:t>Trends in performance, engagement, and ROI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0" y="1920240"/>
            <a:ext cx="2331720" cy="22860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/>
            </a:pPr>
            <a:r>
              <a:t>4. Visualize &amp; Report</a:t>
            </a:r>
          </a:p>
          <a:p>
            <a:pPr algn="ctr">
              <a:defRPr sz="1500"/>
            </a:pPr>
            <a:r>
              <a:t>Dashboards and summary reports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89920" y="6601968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/>
            </a:pPr>
            <a:r>
              <a:t>Data Collection — gathering campaign data from digital marketing and advertising platforms.</a:t>
            </a:r>
          </a:p>
          <a:p>
            <a:pPr>
              <a:spcAft>
                <a:spcPts val="1200"/>
              </a:spcAft>
              <a:defRPr sz="1900"/>
            </a:pPr>
            <a:r>
              <a:t>Data Cleaning — removing duplicates, correcting inconsistencies, and structuring data.</a:t>
            </a:r>
          </a:p>
          <a:p>
            <a:pPr>
              <a:spcAft>
                <a:spcPts val="1200"/>
              </a:spcAft>
              <a:defRPr sz="1900"/>
            </a:pPr>
            <a:r>
              <a:t>Data Analysis — descriptive statistics and trend analysis for performance, engagement, and ROI.</a:t>
            </a:r>
          </a:p>
          <a:p>
            <a:pPr>
              <a:spcAft>
                <a:spcPts val="1200"/>
              </a:spcAft>
              <a:defRPr sz="1900"/>
            </a:pPr>
            <a:r>
              <a:t>Visualization — charts and dashboards to make findings easier to interpret.</a:t>
            </a:r>
          </a:p>
          <a:p>
            <a:pPr>
              <a:spcAft>
                <a:spcPts val="1200"/>
              </a:spcAft>
              <a:defRPr sz="1900"/>
            </a:pPr>
            <a:r>
              <a:t>Reporting — summarizing insights and recommendations in a clear, actionable format.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89920" y="6601968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Expected Outcomes &amp; Learning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/>
            </a:pPr>
            <a:r>
              <a:t>Clearer understanding of how digital marketing campaigns are measured and optimized.</a:t>
            </a:r>
          </a:p>
          <a:p>
            <a:pPr>
              <a:spcAft>
                <a:spcPts val="1200"/>
              </a:spcAft>
              <a:defRPr sz="1900"/>
            </a:pPr>
            <a:r>
              <a:t>Organized datasets and dashboards summarizing campaign performance.</a:t>
            </a:r>
          </a:p>
          <a:p>
            <a:pPr>
              <a:spcAft>
                <a:spcPts val="1200"/>
              </a:spcAft>
              <a:defRPr sz="1900"/>
            </a:pPr>
            <a:r>
              <a:t>Practical recommendations aimed at improving audience engagement and ROI.</a:t>
            </a:r>
          </a:p>
          <a:p>
            <a:pPr>
              <a:spcAft>
                <a:spcPts val="1200"/>
              </a:spcAft>
              <a:defRPr sz="1900"/>
            </a:pPr>
            <a:r>
              <a:t>Stronger data analysis skills and familiarity with marketing analytics tools.</a:t>
            </a:r>
          </a:p>
          <a:p>
            <a:pPr>
              <a:spcAft>
                <a:spcPts val="1200"/>
              </a:spcAft>
              <a:defRPr sz="1900"/>
            </a:pPr>
            <a:r>
              <a:t>Improved ability to translate raw data into meaningful, actionable insights.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89920" y="6601968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Internship Documentation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The report includes an Internship Completion Certificate section.</a:t>
            </a:r>
          </a:p>
          <a:p>
            <a:pPr>
              <a:spcAft>
                <a:spcPts val="1200"/>
              </a:spcAft>
              <a:defRPr sz="2000"/>
            </a:pPr>
            <a:r>
              <a:t>The report states that the Internship Offer Letter and Certificate of Experience issued by YuvaIntern are attached as proof.</a:t>
            </a:r>
          </a:p>
          <a:p>
            <a:pPr>
              <a:spcAft>
                <a:spcPts val="1200"/>
              </a:spcAft>
              <a:defRPr sz="2000"/>
            </a:pPr>
            <a:r>
              <a:t>These documents support the internship undertaken and its successful completion.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89920" y="6601968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YuvaIntern — Internship Offer Letter and Certificate of Experience, 2026.</a:t>
            </a:r>
          </a:p>
          <a:p>
            <a:pPr>
              <a:spcAft>
                <a:spcPts val="1200"/>
              </a:spcAft>
              <a:defRPr sz="2000"/>
            </a:pPr>
            <a:r>
              <a:t>Google Analytics Help Center.</a:t>
            </a:r>
          </a:p>
          <a:p>
            <a:pPr>
              <a:spcAft>
                <a:spcPts val="1200"/>
              </a:spcAft>
              <a:defRPr sz="2000"/>
            </a:pPr>
            <a:r>
              <a:t>Meta Business Help Center.</a:t>
            </a:r>
          </a:p>
          <a:p>
            <a:pPr>
              <a:spcAft>
                <a:spcPts val="1200"/>
              </a:spcAft>
              <a:defRPr sz="2000"/>
            </a:pPr>
            <a:r>
              <a:t>Google Ads Help Center.</a:t>
            </a:r>
          </a:p>
          <a:p>
            <a:pPr>
              <a:spcAft>
                <a:spcPts val="1200"/>
              </a:spcAft>
              <a:defRPr sz="2000"/>
            </a:pPr>
            <a:r>
              <a:t>Looker Studio Help Center.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89920" y="6601968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327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/>
            </a:pPr>
            <a:r>
              <a:t>Thank You</a:t>
            </a:r>
          </a:p>
          <a:p>
            <a:pPr algn="ctr">
              <a:defRPr sz="2000"/>
            </a:pPr>
            <a:r>
              <a:t>Aryan Jha | Junior Data Analyst Internship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